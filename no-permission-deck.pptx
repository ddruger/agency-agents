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024360" y="0"/>
            <a:ext cx="91440" cy="6858000"/>
          </a:xfrm>
          <a:prstGeom prst="rect">
            <a:avLst/>
          </a:prstGeom>
          <a:solidFill>
            <a:srgbClr val="E85D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475488"/>
            <a:ext cx="758952" cy="45720"/>
          </a:xfrm>
          <a:prstGeom prst="rect">
            <a:avLst/>
          </a:prstGeom>
          <a:solidFill>
            <a:srgbClr val="C94B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94B0C"/>
                </a:solidFill>
                <a:latin typeface="Arial"/>
              </a:rPr>
              <a:t>THE BUSINESS PODCAST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51560"/>
            <a:ext cx="9144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0" b="1" i="0">
                <a:solidFill>
                  <a:srgbClr val="FFFFFF"/>
                </a:solidFill>
                <a:latin typeface="Arial Black"/>
              </a:rPr>
              <a:t>NO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468880"/>
            <a:ext cx="9144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0" b="1" i="0">
                <a:solidFill>
                  <a:srgbClr val="FFFFFF"/>
                </a:solidFill>
                <a:latin typeface="Arial Black"/>
              </a:rPr>
              <a:t>PERMISSION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1605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B3B3B3"/>
                </a:solidFill>
                <a:latin typeface="Arial"/>
              </a:rPr>
              <a:t>Built for Founders Who Don't Wait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6217920"/>
            <a:ext cx="11064240" cy="36576"/>
          </a:xfrm>
          <a:prstGeom prst="rect">
            <a:avLst/>
          </a:prstGeom>
          <a:solidFill>
            <a:srgbClr val="C94B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3093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3B3B3"/>
                </a:solidFill>
                <a:latin typeface="Arial"/>
              </a:rPr>
              <a:t>nopermissionpod.com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94B0C"/>
                </a:solidFill>
                <a:latin typeface="Arial"/>
              </a:rPr>
              <a:t>THE SHOW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0" b="1" i="0">
                <a:solidFill>
                  <a:srgbClr val="FFFFFF"/>
                </a:solidFill>
                <a:latin typeface="Arial Black"/>
              </a:rPr>
              <a:t>Built Different.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9164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0" b="1" i="0">
                <a:solidFill>
                  <a:srgbClr val="FFFFFF"/>
                </a:solidFill>
                <a:latin typeface="Arial Black"/>
              </a:rPr>
              <a:t>Built Bold.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743200"/>
            <a:ext cx="3474720" cy="1691640"/>
          </a:xfrm>
          <a:prstGeom prst="rect">
            <a:avLst/>
          </a:prstGeom>
          <a:solidFill>
            <a:srgbClr val="1A1A1A"/>
          </a:solidFill>
          <a:ln w="19050">
            <a:solidFill>
              <a:srgbClr val="C94B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8803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94B0C"/>
                </a:solidFill>
                <a:latin typeface="Arial Black"/>
              </a:rPr>
              <a:t>REAL TALK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218688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3B3B3"/>
                </a:solidFill>
                <a:latin typeface="Arial"/>
              </a:rPr>
              <a:t>Unfiltered conversations with people who've done the work</a:t>
            </a:r>
          </a:p>
        </p:txBody>
      </p:sp>
      <p:sp>
        <p:nvSpPr>
          <p:cNvPr id="9" name="Rectangle 8"/>
          <p:cNvSpPr/>
          <p:nvPr/>
        </p:nvSpPr>
        <p:spPr>
          <a:xfrm>
            <a:off x="4206240" y="2743200"/>
            <a:ext cx="3474720" cy="1691640"/>
          </a:xfrm>
          <a:prstGeom prst="rect">
            <a:avLst/>
          </a:prstGeom>
          <a:solidFill>
            <a:srgbClr val="1A1A1A"/>
          </a:solidFill>
          <a:ln w="19050">
            <a:solidFill>
              <a:srgbClr val="C94B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43400" y="28803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94B0C"/>
                </a:solidFill>
                <a:latin typeface="Arial Black"/>
              </a:rPr>
              <a:t>NO FILTERS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43400" y="3218688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3B3B3"/>
                </a:solidFill>
                <a:latin typeface="Arial"/>
              </a:rPr>
              <a:t>Raw insights, hard lessons, and the specifics that matter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863840" y="2743200"/>
            <a:ext cx="3474720" cy="1691640"/>
          </a:xfrm>
          <a:prstGeom prst="rect">
            <a:avLst/>
          </a:prstGeom>
          <a:solidFill>
            <a:srgbClr val="1A1A1A"/>
          </a:solidFill>
          <a:ln w="19050">
            <a:solidFill>
              <a:srgbClr val="C94B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01000" y="28803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94B0C"/>
                </a:solidFill>
                <a:latin typeface="Arial Black"/>
              </a:rPr>
              <a:t>NO PERMISSION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01000" y="3218688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3B3B3"/>
                </a:solidFill>
                <a:latin typeface="Arial"/>
              </a:rPr>
              <a:t>The show built for those who don't wait for validation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61772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3B3B3"/>
                </a:solidFill>
                <a:latin typeface="Arial"/>
              </a:rPr>
              <a:t>No Permission is the weekly business podcast for founders, operators, and investors who build on their own terms. No theory. No fluff. Just the real playbook.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94B0C"/>
                </a:solidFill>
                <a:latin typeface="Arial"/>
              </a:rPr>
              <a:t>MEET YOUR HOST</a:t>
            </a:r>
          </a:p>
        </p:txBody>
      </p:sp>
      <p:sp>
        <p:nvSpPr>
          <p:cNvPr id="4" name="Oval 3"/>
          <p:cNvSpPr/>
          <p:nvPr/>
        </p:nvSpPr>
        <p:spPr>
          <a:xfrm>
            <a:off x="548640" y="777240"/>
            <a:ext cx="2011680" cy="2011680"/>
          </a:xfrm>
          <a:prstGeom prst="ellipse">
            <a:avLst/>
          </a:prstGeom>
          <a:solidFill>
            <a:srgbClr val="C94B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20116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 Black"/>
              </a:rPr>
              <a:t>DD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92608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 Black"/>
              </a:rPr>
              <a:t>Daniel Druger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4290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94B0C"/>
                </a:solidFill>
                <a:latin typeface="Arial"/>
              </a:rPr>
              <a:t>Host · No Permission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913632"/>
            <a:ext cx="1280160" cy="292608"/>
          </a:xfrm>
          <a:prstGeom prst="rect">
            <a:avLst/>
          </a:prstGeom>
          <a:solidFill>
            <a:srgbClr val="1A1A1A"/>
          </a:solidFill>
          <a:ln w="12700">
            <a:solidFill>
              <a:srgbClr val="C94B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3913632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C94B0C"/>
                </a:solidFill>
                <a:latin typeface="Arial"/>
              </a:rPr>
              <a:t>Co-Host, ADSN</a:t>
            </a:r>
          </a:p>
        </p:txBody>
      </p:sp>
      <p:sp>
        <p:nvSpPr>
          <p:cNvPr id="10" name="Rectangle 9"/>
          <p:cNvSpPr/>
          <p:nvPr/>
        </p:nvSpPr>
        <p:spPr>
          <a:xfrm>
            <a:off x="1965960" y="3913632"/>
            <a:ext cx="1280160" cy="292608"/>
          </a:xfrm>
          <a:prstGeom prst="rect">
            <a:avLst/>
          </a:prstGeom>
          <a:solidFill>
            <a:srgbClr val="1A1A1A"/>
          </a:solidFill>
          <a:ln w="12700">
            <a:solidFill>
              <a:srgbClr val="C94B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965960" y="3913632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C94B0C"/>
                </a:solidFill>
                <a:latin typeface="Arial"/>
              </a:rPr>
              <a:t>Active Investor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83280" y="3913632"/>
            <a:ext cx="1280160" cy="292608"/>
          </a:xfrm>
          <a:prstGeom prst="rect">
            <a:avLst/>
          </a:prstGeom>
          <a:solidFill>
            <a:srgbClr val="1A1A1A"/>
          </a:solidFill>
          <a:ln w="12700">
            <a:solidFill>
              <a:srgbClr val="C94B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83280" y="3913632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C94B0C"/>
                </a:solidFill>
                <a:latin typeface="Arial"/>
              </a:rPr>
              <a:t>Startup Advisor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0" y="777240"/>
            <a:ext cx="795527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Arial Black"/>
              </a:rPr>
              <a:t>Built From the Inside Out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0" y="1737360"/>
            <a:ext cx="7955279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3B3B3"/>
                </a:solidFill>
                <a:latin typeface="Arial"/>
              </a:rPr>
              <a:t>Daniel Druger isn't talking about business from the sidelines. As co-host of ADSN, an active investor, and hands-on advisor to founders, Daniel brings real capital, real relationships, and real-world decisions to every conversation.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0" y="3200400"/>
            <a:ext cx="795527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3B3B3"/>
                </a:solidFill>
                <a:latin typeface="Arial"/>
              </a:rPr>
              <a:t>No Permission exists because the best business lessons aren't found in books — they're found in the rooms most people can't get into. Daniel opens that door.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840480" y="4480560"/>
            <a:ext cx="1280160" cy="292608"/>
          </a:xfrm>
          <a:prstGeom prst="rect">
            <a:avLst/>
          </a:prstGeom>
          <a:solidFill>
            <a:srgbClr val="1A1A1A"/>
          </a:solidFill>
          <a:ln w="12700">
            <a:solidFill>
              <a:srgbClr val="C94B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840480" y="4480560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C94B0C"/>
                </a:solidFill>
                <a:latin typeface="Arial"/>
              </a:rPr>
              <a:t>INVESTOR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257800" y="4480560"/>
            <a:ext cx="1280160" cy="292608"/>
          </a:xfrm>
          <a:prstGeom prst="rect">
            <a:avLst/>
          </a:prstGeom>
          <a:solidFill>
            <a:srgbClr val="1A1A1A"/>
          </a:solidFill>
          <a:ln w="12700">
            <a:solidFill>
              <a:srgbClr val="C94B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257800" y="4480560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C94B0C"/>
                </a:solidFill>
                <a:latin typeface="Arial"/>
              </a:rPr>
              <a:t>ADVISOR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75120" y="4480560"/>
            <a:ext cx="1280160" cy="292608"/>
          </a:xfrm>
          <a:prstGeom prst="rect">
            <a:avLst/>
          </a:prstGeom>
          <a:solidFill>
            <a:srgbClr val="1A1A1A"/>
          </a:solidFill>
          <a:ln w="12700">
            <a:solidFill>
              <a:srgbClr val="C94B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75120" y="4480560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C94B0C"/>
                </a:solidFill>
                <a:latin typeface="Arial"/>
              </a:rPr>
              <a:t>OPERATOR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92440" y="4480560"/>
            <a:ext cx="1280160" cy="292608"/>
          </a:xfrm>
          <a:prstGeom prst="rect">
            <a:avLst/>
          </a:prstGeom>
          <a:solidFill>
            <a:srgbClr val="1A1A1A"/>
          </a:solidFill>
          <a:ln w="12700">
            <a:solidFill>
              <a:srgbClr val="C94B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92440" y="4480560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C94B0C"/>
                </a:solidFill>
                <a:latin typeface="Arial"/>
              </a:rPr>
              <a:t>ADSN CO-HOST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94B0C"/>
                </a:solidFill>
                <a:latin typeface="Arial"/>
              </a:rPr>
              <a:t>THE AUDIENCE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  <a:latin typeface="Arial Black"/>
              </a:rPr>
              <a:t>Built for Founders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9164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  <a:latin typeface="Arial Black"/>
              </a:rPr>
              <a:t>Who Don't Wait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926080"/>
            <a:ext cx="5394960" cy="1417320"/>
          </a:xfrm>
          <a:prstGeom prst="rect">
            <a:avLst/>
          </a:prstGeom>
          <a:solidFill>
            <a:srgbClr val="1A1A1A"/>
          </a:solidFill>
          <a:ln w="19050">
            <a:solidFill>
              <a:srgbClr val="C94B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306324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94B0C"/>
                </a:solidFill>
                <a:latin typeface="Arial Black"/>
              </a:rPr>
              <a:t>ENTREPRENEURS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401568"/>
            <a:ext cx="5120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3B3B3"/>
                </a:solidFill>
                <a:latin typeface="Arial"/>
              </a:rPr>
              <a:t>Founders at every stage building companies from scratch or scaling to the next level.</a:t>
            </a:r>
          </a:p>
        </p:txBody>
      </p:sp>
      <p:sp>
        <p:nvSpPr>
          <p:cNvPr id="9" name="Rectangle 8"/>
          <p:cNvSpPr/>
          <p:nvPr/>
        </p:nvSpPr>
        <p:spPr>
          <a:xfrm>
            <a:off x="6172200" y="2926080"/>
            <a:ext cx="5394960" cy="1417320"/>
          </a:xfrm>
          <a:prstGeom prst="rect">
            <a:avLst/>
          </a:prstGeom>
          <a:solidFill>
            <a:srgbClr val="1A1A1A"/>
          </a:solidFill>
          <a:ln w="19050">
            <a:solidFill>
              <a:srgbClr val="C94B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306324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94B0C"/>
                </a:solidFill>
                <a:latin typeface="Arial Black"/>
              </a:rPr>
              <a:t>OPERATORS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3401568"/>
            <a:ext cx="5120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3B3B3"/>
                </a:solidFill>
                <a:latin typeface="Arial"/>
              </a:rPr>
              <a:t>The executives and managers who execute strategy and turn vision into reality every day.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572000"/>
            <a:ext cx="5394960" cy="1417320"/>
          </a:xfrm>
          <a:prstGeom prst="rect">
            <a:avLst/>
          </a:prstGeom>
          <a:solidFill>
            <a:srgbClr val="1A1A1A"/>
          </a:solidFill>
          <a:ln w="19050">
            <a:solidFill>
              <a:srgbClr val="C94B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470916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94B0C"/>
                </a:solidFill>
                <a:latin typeface="Arial Black"/>
              </a:rPr>
              <a:t>INVESTORS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5047488"/>
            <a:ext cx="5120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3B3B3"/>
                </a:solidFill>
                <a:latin typeface="Arial"/>
              </a:rPr>
              <a:t>Angels, VCs, and family offices looking for pattern recognition from proven operators.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72200" y="4572000"/>
            <a:ext cx="5394960" cy="1417320"/>
          </a:xfrm>
          <a:prstGeom prst="rect">
            <a:avLst/>
          </a:prstGeom>
          <a:solidFill>
            <a:srgbClr val="1A1A1A"/>
          </a:solidFill>
          <a:ln w="19050">
            <a:solidFill>
              <a:srgbClr val="C94B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470916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94B0C"/>
                </a:solidFill>
                <a:latin typeface="Arial Black"/>
              </a:rPr>
              <a:t>BUILDERS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5047488"/>
            <a:ext cx="5120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3B3B3"/>
                </a:solidFill>
                <a:latin typeface="Arial"/>
              </a:rPr>
              <a:t>Engineers, marketers, and creatives turning ideas into products and careers into legacies.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94B0C"/>
                </a:solidFill>
                <a:latin typeface="Arial"/>
              </a:rPr>
              <a:t>TOPICS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0" b="1" i="0">
                <a:solidFill>
                  <a:srgbClr val="FFFFFF"/>
                </a:solidFill>
                <a:latin typeface="Arial Black"/>
              </a:rPr>
              <a:t>What We Cover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920240"/>
            <a:ext cx="3566160" cy="1325880"/>
          </a:xfrm>
          <a:prstGeom prst="rect">
            <a:avLst/>
          </a:prstGeom>
          <a:solidFill>
            <a:srgbClr val="1A1A1A"/>
          </a:solidFill>
          <a:ln w="19050">
            <a:solidFill>
              <a:srgbClr val="C94B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05740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94B0C"/>
                </a:solidFill>
                <a:latin typeface="Arial Black"/>
              </a:rPr>
              <a:t>BUILDING COMPANIES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395728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3B3B3"/>
                </a:solidFill>
                <a:latin typeface="Arial"/>
              </a:rPr>
              <a:t>Zero to one, product-market fit, hiring your first team</a:t>
            </a:r>
          </a:p>
        </p:txBody>
      </p:sp>
      <p:sp>
        <p:nvSpPr>
          <p:cNvPr id="8" name="Rectangle 7"/>
          <p:cNvSpPr/>
          <p:nvPr/>
        </p:nvSpPr>
        <p:spPr>
          <a:xfrm>
            <a:off x="4297680" y="1920240"/>
            <a:ext cx="3566160" cy="1325880"/>
          </a:xfrm>
          <a:prstGeom prst="rect">
            <a:avLst/>
          </a:prstGeom>
          <a:solidFill>
            <a:srgbClr val="1A1A1A"/>
          </a:solidFill>
          <a:ln w="19050">
            <a:solidFill>
              <a:srgbClr val="C94B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34840" y="205740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94B0C"/>
                </a:solidFill>
                <a:latin typeface="Arial Black"/>
              </a:rPr>
              <a:t>RAISING CAPITAL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34840" y="2395728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3B3B3"/>
                </a:solidFill>
                <a:latin typeface="Arial"/>
              </a:rPr>
              <a:t>Fundraising strategy, investor relations, term sheets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46720" y="1920240"/>
            <a:ext cx="3566160" cy="1325880"/>
          </a:xfrm>
          <a:prstGeom prst="rect">
            <a:avLst/>
          </a:prstGeom>
          <a:solidFill>
            <a:srgbClr val="1A1A1A"/>
          </a:solidFill>
          <a:ln w="19050">
            <a:solidFill>
              <a:srgbClr val="C94B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83880" y="205740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94B0C"/>
                </a:solidFill>
                <a:latin typeface="Arial Black"/>
              </a:rPr>
              <a:t>MARKETING &amp; GROWTH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83880" y="2395728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3B3B3"/>
                </a:solidFill>
                <a:latin typeface="Arial"/>
              </a:rPr>
              <a:t>Acquisition, retention, brand building at scale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447288"/>
            <a:ext cx="3566160" cy="1325880"/>
          </a:xfrm>
          <a:prstGeom prst="rect">
            <a:avLst/>
          </a:prstGeom>
          <a:solidFill>
            <a:srgbClr val="1A1A1A"/>
          </a:solidFill>
          <a:ln w="19050">
            <a:solidFill>
              <a:srgbClr val="C94B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584448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94B0C"/>
                </a:solidFill>
                <a:latin typeface="Arial Black"/>
              </a:rPr>
              <a:t>LEADERSHIP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3922776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3B3B3"/>
                </a:solidFill>
                <a:latin typeface="Arial"/>
              </a:rPr>
              <a:t>Managing up, down, and across in high-growth environments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97680" y="3447288"/>
            <a:ext cx="3566160" cy="1325880"/>
          </a:xfrm>
          <a:prstGeom prst="rect">
            <a:avLst/>
          </a:prstGeom>
          <a:solidFill>
            <a:srgbClr val="1A1A1A"/>
          </a:solidFill>
          <a:ln w="19050">
            <a:solidFill>
              <a:srgbClr val="C94B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34840" y="3584448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94B0C"/>
                </a:solidFill>
                <a:latin typeface="Arial Black"/>
              </a:rPr>
              <a:t>SALES &amp; REVENUE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34840" y="3922776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3B3B3"/>
                </a:solidFill>
                <a:latin typeface="Arial"/>
              </a:rPr>
              <a:t>Pipeline, deals, pricing, and revenue operations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46720" y="3447288"/>
            <a:ext cx="3566160" cy="1325880"/>
          </a:xfrm>
          <a:prstGeom prst="rect">
            <a:avLst/>
          </a:prstGeom>
          <a:solidFill>
            <a:srgbClr val="1A1A1A"/>
          </a:solidFill>
          <a:ln w="19050">
            <a:solidFill>
              <a:srgbClr val="C94B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83880" y="3584448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94B0C"/>
                </a:solidFill>
                <a:latin typeface="Arial Black"/>
              </a:rPr>
              <a:t>CULTURE &amp; TEAM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83880" y="3922776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3B3B3"/>
                </a:solidFill>
                <a:latin typeface="Arial"/>
              </a:rPr>
              <a:t>Hiring, retention, and values in action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94B0C"/>
                </a:solidFill>
                <a:latin typeface="Arial"/>
              </a:rPr>
              <a:t>THE FORMAT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0" b="1" i="0">
                <a:solidFill>
                  <a:srgbClr val="FFFFFF"/>
                </a:solidFill>
                <a:latin typeface="Arial Black"/>
              </a:rPr>
              <a:t>How We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9164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0" b="1" i="0">
                <a:solidFill>
                  <a:srgbClr val="FFFFFF"/>
                </a:solidFill>
                <a:latin typeface="Arial Black"/>
              </a:rPr>
              <a:t>Deliver 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788920"/>
            <a:ext cx="5669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3B3B3"/>
                </a:solidFill>
                <a:latin typeface="Arial"/>
              </a:rPr>
              <a:t>No Permission episodes are crafted to respect your time and maximize your ROI per minute listened.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84048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C94B0C"/>
                </a:solidFill>
                <a:latin typeface="Arial Black"/>
              </a:rPr>
              <a:t>WEEKLY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25196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3B3B3"/>
                </a:solidFill>
                <a:latin typeface="Arial"/>
              </a:rPr>
              <a:t>Release cadence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68880" y="384048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C94B0C"/>
                </a:solidFill>
                <a:latin typeface="Arial Black"/>
              </a:rPr>
              <a:t>45-60 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425196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3B3B3"/>
                </a:solidFill>
                <a:latin typeface="Arial"/>
              </a:rPr>
              <a:t>Per episode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384048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C94B0C"/>
                </a:solidFill>
                <a:latin typeface="Arial Black"/>
              </a:rPr>
              <a:t>SINCE 2024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425196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3B3B3"/>
                </a:solidFill>
                <a:latin typeface="Arial"/>
              </a:rPr>
              <a:t>In your feed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914400"/>
            <a:ext cx="5394960" cy="1280160"/>
          </a:xfrm>
          <a:prstGeom prst="rect">
            <a:avLst/>
          </a:prstGeom>
          <a:solidFill>
            <a:srgbClr val="1A1A1A"/>
          </a:solidFill>
          <a:ln w="19050">
            <a:solidFill>
              <a:srgbClr val="C94B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60" y="105156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94B0C"/>
                </a:solidFill>
                <a:latin typeface="Arial Black"/>
              </a:rPr>
              <a:t>SOLO DEEP-DIVES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1389888"/>
            <a:ext cx="5120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3B3B3"/>
                </a:solidFill>
                <a:latin typeface="Arial"/>
              </a:rPr>
              <a:t>Host-driven tactical breakdowns on a single business topic.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2377440"/>
            <a:ext cx="5394960" cy="1280160"/>
          </a:xfrm>
          <a:prstGeom prst="rect">
            <a:avLst/>
          </a:prstGeom>
          <a:solidFill>
            <a:srgbClr val="1A1A1A"/>
          </a:solidFill>
          <a:ln w="19050">
            <a:solidFill>
              <a:srgbClr val="C94B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37960" y="251460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94B0C"/>
                </a:solidFill>
                <a:latin typeface="Arial Black"/>
              </a:rPr>
              <a:t>GUEST INTERVIEWS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0" y="2852928"/>
            <a:ext cx="5120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3B3B3"/>
                </a:solidFill>
                <a:latin typeface="Arial"/>
              </a:rPr>
              <a:t>Long-form conversations with founders, operators, and investors.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0" y="3840480"/>
            <a:ext cx="5394960" cy="1280160"/>
          </a:xfrm>
          <a:prstGeom prst="rect">
            <a:avLst/>
          </a:prstGeom>
          <a:solidFill>
            <a:srgbClr val="1A1A1A"/>
          </a:solidFill>
          <a:ln w="19050">
            <a:solidFill>
              <a:srgbClr val="C94B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37960" y="397764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94B0C"/>
                </a:solidFill>
                <a:latin typeface="Arial Black"/>
              </a:rPr>
              <a:t>TACTICAL Q&amp;A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4315968"/>
            <a:ext cx="5120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3B3B3"/>
                </a:solidFill>
                <a:latin typeface="Arial"/>
              </a:rPr>
              <a:t>Direct listener questions answered with no fluff.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94B0C"/>
                </a:solidFill>
                <a:latin typeface="Arial"/>
              </a:rPr>
              <a:t>WHY NO PERMISSION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0" b="1" i="0">
                <a:solidFill>
                  <a:srgbClr val="FFFFFF"/>
                </a:solidFill>
                <a:latin typeface="Arial Black"/>
              </a:rPr>
              <a:t>The Numbers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9164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0" b="1" i="0">
                <a:solidFill>
                  <a:srgbClr val="FFFFFF"/>
                </a:solidFill>
                <a:latin typeface="Arial Black"/>
              </a:rPr>
              <a:t>Speak First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743200"/>
            <a:ext cx="2651760" cy="1645920"/>
          </a:xfrm>
          <a:prstGeom prst="rect">
            <a:avLst/>
          </a:prstGeom>
          <a:solidFill>
            <a:srgbClr val="1A1A1A"/>
          </a:solidFill>
          <a:ln w="19050">
            <a:solidFill>
              <a:srgbClr val="C94B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880360"/>
            <a:ext cx="2377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E85D04"/>
                </a:solidFill>
                <a:latin typeface="Arial Black"/>
              </a:rPr>
              <a:t>100%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52044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3B3B3"/>
                </a:solidFill>
                <a:latin typeface="Arial"/>
              </a:rPr>
              <a:t>Guest Vetting Rate — every guest has an operational track record</a:t>
            </a:r>
          </a:p>
        </p:txBody>
      </p:sp>
      <p:sp>
        <p:nvSpPr>
          <p:cNvPr id="9" name="Rectangle 8"/>
          <p:cNvSpPr/>
          <p:nvPr/>
        </p:nvSpPr>
        <p:spPr>
          <a:xfrm>
            <a:off x="3429000" y="2743200"/>
            <a:ext cx="2651760" cy="1645920"/>
          </a:xfrm>
          <a:prstGeom prst="rect">
            <a:avLst/>
          </a:prstGeom>
          <a:solidFill>
            <a:srgbClr val="1A1A1A"/>
          </a:solidFill>
          <a:ln w="19050">
            <a:solidFill>
              <a:srgbClr val="C94B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66160" y="2880360"/>
            <a:ext cx="2377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E85D04"/>
                </a:solidFill>
                <a:latin typeface="Arial Black"/>
              </a:rPr>
              <a:t>ZERO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352044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3B3B3"/>
                </a:solidFill>
                <a:latin typeface="Arial"/>
              </a:rPr>
              <a:t>Paid Guest Placements — merit only, always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2743200"/>
            <a:ext cx="2651760" cy="1645920"/>
          </a:xfrm>
          <a:prstGeom prst="rect">
            <a:avLst/>
          </a:prstGeom>
          <a:solidFill>
            <a:srgbClr val="1A1A1A"/>
          </a:solidFill>
          <a:ln w="19050">
            <a:solidFill>
              <a:srgbClr val="C94B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2880360"/>
            <a:ext cx="2377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E85D04"/>
                </a:solidFill>
                <a:latin typeface="Arial Black"/>
              </a:rPr>
              <a:t>45-60 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352044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3B3B3"/>
                </a:solidFill>
                <a:latin typeface="Arial"/>
              </a:rPr>
              <a:t>Per Episode — deep enough to matter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89720" y="2743200"/>
            <a:ext cx="2651760" cy="1645920"/>
          </a:xfrm>
          <a:prstGeom prst="rect">
            <a:avLst/>
          </a:prstGeom>
          <a:solidFill>
            <a:srgbClr val="1A1A1A"/>
          </a:solidFill>
          <a:ln w="19050">
            <a:solidFill>
              <a:srgbClr val="C94B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0" y="2880360"/>
            <a:ext cx="2377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E85D04"/>
                </a:solidFill>
                <a:latin typeface="Arial Black"/>
              </a:rPr>
              <a:t>WEEKLY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0" y="352044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3B3B3"/>
                </a:solidFill>
                <a:latin typeface="Arial"/>
              </a:rPr>
              <a:t>New Episodes — consistent, reliable, always 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7091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Arial Black"/>
              </a:rPr>
              <a:t>No fluff. No gatekeeping. No Permission.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94B0C"/>
                </a:solidFill>
                <a:latin typeface="Arial"/>
              </a:rPr>
              <a:t>THIS WEEK'S GUEST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77240"/>
            <a:ext cx="4846320" cy="5577840"/>
          </a:xfrm>
          <a:prstGeom prst="rect">
            <a:avLst/>
          </a:prstGeom>
          <a:solidFill>
            <a:srgbClr val="1A1A1A"/>
          </a:solidFill>
          <a:ln w="19050">
            <a:solidFill>
              <a:srgbClr val="C94B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77240" y="914400"/>
            <a:ext cx="1645920" cy="1645920"/>
          </a:xfrm>
          <a:prstGeom prst="ellipse">
            <a:avLst/>
          </a:prstGeom>
          <a:solidFill>
            <a:srgbClr val="C94B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23444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 Black"/>
              </a:rPr>
              <a:t>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697480"/>
            <a:ext cx="4389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 Black"/>
              </a:rPr>
              <a:t>Guest Name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20040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94B0C"/>
                </a:solidFill>
                <a:latin typeface="Arial"/>
              </a:rPr>
              <a:t>Title · Company Name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3657600"/>
            <a:ext cx="2286000" cy="274320"/>
          </a:xfrm>
          <a:prstGeom prst="rect">
            <a:avLst/>
          </a:prstGeom>
          <a:solidFill>
            <a:srgbClr val="C94B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365760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Arial"/>
              </a:rPr>
              <a:t>EPISODE TOPIC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4023360"/>
            <a:ext cx="4389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3B3B3"/>
                </a:solidFill>
                <a:latin typeface="Arial"/>
              </a:rPr>
              <a:t>The tactical framework this guest used to scale from $0 to $10M ARR in under two years.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502920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48C06"/>
                </a:solidFill>
                <a:latin typeface="Arial"/>
              </a:rPr>
              <a:t>Episode 101 · 52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0" y="457200"/>
            <a:ext cx="6217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94B0C"/>
                </a:solidFill>
                <a:latin typeface="Arial"/>
              </a:rPr>
              <a:t>GUEST SPOTLIGHT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0" y="868680"/>
            <a:ext cx="6217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Arial Black"/>
              </a:rPr>
              <a:t>Real People.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0" y="1508760"/>
            <a:ext cx="6217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Arial Black"/>
              </a:rPr>
              <a:t>Real Receipts.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0" y="2331720"/>
            <a:ext cx="6217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3B3B3"/>
                </a:solidFill>
                <a:latin typeface="Arial"/>
              </a:rPr>
              <a:t>Every guest on No Permission has done the work. We vet for operational experience, not follower count.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0" y="3246120"/>
            <a:ext cx="6217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3B3B3"/>
                </a:solidFill>
                <a:latin typeface="Arial"/>
              </a:rPr>
              <a:t>◆  Verified track record of building or operating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0" y="3794760"/>
            <a:ext cx="6217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3B3B3"/>
                </a:solidFill>
                <a:latin typeface="Arial"/>
              </a:rPr>
              <a:t>◆  Specific metrics, decisions, and outcomes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0" y="4343400"/>
            <a:ext cx="6217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3B3B3"/>
                </a:solidFill>
                <a:latin typeface="Arial"/>
              </a:rPr>
              <a:t>◆  No PR fluff — real conversation, real answers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0" y="4892040"/>
            <a:ext cx="6217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3B3B3"/>
                </a:solidFill>
                <a:latin typeface="Arial"/>
              </a:rPr>
              <a:t>◆  Curated for founders who need the real playbook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94B0C"/>
                </a:solidFill>
                <a:latin typeface="Arial"/>
              </a:rPr>
              <a:t>LISTEN EVERYWHERE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600" b="1" i="0">
                <a:solidFill>
                  <a:srgbClr val="FFFFFF"/>
                </a:solidFill>
                <a:latin typeface="Arial Black"/>
              </a:rPr>
              <a:t>Find Us 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9164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600" b="1" i="0">
                <a:solidFill>
                  <a:srgbClr val="FFFFFF"/>
                </a:solidFill>
                <a:latin typeface="Arial Black"/>
              </a:rPr>
              <a:t>Every Platform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743200"/>
            <a:ext cx="3474720" cy="1371600"/>
          </a:xfrm>
          <a:prstGeom prst="rect">
            <a:avLst/>
          </a:prstGeom>
          <a:solidFill>
            <a:srgbClr val="1A1A1A"/>
          </a:solidFill>
          <a:ln w="19050">
            <a:solidFill>
              <a:srgbClr val="C94B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324612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 Black"/>
              </a:rPr>
              <a:t>SPOTIFY</a:t>
            </a:r>
          </a:p>
        </p:txBody>
      </p:sp>
      <p:sp>
        <p:nvSpPr>
          <p:cNvPr id="8" name="Rectangle 7"/>
          <p:cNvSpPr/>
          <p:nvPr/>
        </p:nvSpPr>
        <p:spPr>
          <a:xfrm>
            <a:off x="4251960" y="2743200"/>
            <a:ext cx="3474720" cy="1371600"/>
          </a:xfrm>
          <a:prstGeom prst="rect">
            <a:avLst/>
          </a:prstGeom>
          <a:solidFill>
            <a:srgbClr val="1A1A1A"/>
          </a:solidFill>
          <a:ln w="19050">
            <a:solidFill>
              <a:srgbClr val="C94B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89120" y="324612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 Black"/>
              </a:rPr>
              <a:t>APPLE PODCASTS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55280" y="2743200"/>
            <a:ext cx="3474720" cy="1371600"/>
          </a:xfrm>
          <a:prstGeom prst="rect">
            <a:avLst/>
          </a:prstGeom>
          <a:solidFill>
            <a:srgbClr val="1A1A1A"/>
          </a:solidFill>
          <a:ln w="19050">
            <a:solidFill>
              <a:srgbClr val="C94B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92440" y="324612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 Black"/>
              </a:rPr>
              <a:t>YOUTUBE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343400"/>
            <a:ext cx="11064240" cy="45720"/>
          </a:xfrm>
          <a:prstGeom prst="rect">
            <a:avLst/>
          </a:prstGeom>
          <a:solidFill>
            <a:srgbClr val="C94B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448056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94B0C"/>
                </a:solidFill>
                <a:latin typeface="Arial"/>
              </a:rPr>
              <a:t>Instagram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80060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3B3B3"/>
                </a:solidFill>
                <a:latin typeface="Arial"/>
              </a:rPr>
              <a:t>@nopermissionpod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1840" y="448056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94B0C"/>
                </a:solidFill>
                <a:latin typeface="Arial"/>
              </a:rPr>
              <a:t>X / Twitter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91840" y="480060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3B3B3"/>
                </a:solidFill>
                <a:latin typeface="Arial"/>
              </a:rPr>
              <a:t>@nopermissionpod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35040" y="448056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94B0C"/>
                </a:solidFill>
                <a:latin typeface="Arial"/>
              </a:rPr>
              <a:t>LinkedIn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35040" y="480060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3B3B3"/>
                </a:solidFill>
                <a:latin typeface="Arial"/>
              </a:rPr>
              <a:t>No Permission Podcast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78240" y="448056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94B0C"/>
                </a:solidFill>
                <a:latin typeface="Arial"/>
              </a:rPr>
              <a:t>TikTok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78240" y="480060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3B3B3"/>
                </a:solidFill>
                <a:latin typeface="Arial"/>
              </a:rPr>
              <a:t>@nopermissionpod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53492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Arial Black"/>
              </a:rPr>
              <a:t>Start Listening. No Permission Required.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58521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C94B0C"/>
                </a:solidFill>
                <a:latin typeface="Arial"/>
              </a:rPr>
              <a:t>nopermissionpod.com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94B0C"/>
                </a:solidFill>
                <a:latin typeface="Arial"/>
              </a:rPr>
              <a:t>PARTNERSHIPS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0" b="1" i="0">
                <a:solidFill>
                  <a:srgbClr val="FFFFFF"/>
                </a:solidFill>
                <a:latin typeface="Arial Black"/>
              </a:rPr>
              <a:t>Partner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9164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0" b="1" i="0">
                <a:solidFill>
                  <a:srgbClr val="FFFFFF"/>
                </a:solidFill>
                <a:latin typeface="Arial Black"/>
              </a:rPr>
              <a:t>With 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788920"/>
            <a:ext cx="5303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3B3B3"/>
                </a:solidFill>
                <a:latin typeface="Arial"/>
              </a:rPr>
              <a:t>Reach an audience of decision-makers, founders, and operators who act on what they hear.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703320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C94B0C"/>
                </a:solidFill>
                <a:latin typeface="Arial Black"/>
              </a:rPr>
              <a:t>78%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11480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3B3B3"/>
                </a:solidFill>
                <a:latin typeface="Arial"/>
              </a:rPr>
              <a:t>Decision Makers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5960" y="3703320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C94B0C"/>
                </a:solidFill>
                <a:latin typeface="Arial Black"/>
              </a:rPr>
              <a:t>34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65960" y="411480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3B3B3"/>
                </a:solidFill>
                <a:latin typeface="Arial"/>
              </a:rPr>
              <a:t>Avg. Audience 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3703320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C94B0C"/>
                </a:solidFill>
                <a:latin typeface="Arial Black"/>
              </a:rPr>
              <a:t>$120K+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411480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3B3B3"/>
                </a:solidFill>
                <a:latin typeface="Arial"/>
              </a:rPr>
              <a:t>Household Income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00600" y="3703320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C94B0C"/>
                </a:solidFill>
                <a:latin typeface="Arial Black"/>
              </a:rPr>
              <a:t>65%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411480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3B3B3"/>
                </a:solidFill>
                <a:latin typeface="Arial"/>
              </a:rPr>
              <a:t>Own a Business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914400"/>
            <a:ext cx="5669280" cy="1234440"/>
          </a:xfrm>
          <a:prstGeom prst="rect">
            <a:avLst/>
          </a:prstGeom>
          <a:solidFill>
            <a:srgbClr val="1A1A1A"/>
          </a:solidFill>
          <a:ln w="19050">
            <a:solidFill>
              <a:srgbClr val="C94B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105156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94B0C"/>
                </a:solidFill>
                <a:latin typeface="Arial Black"/>
              </a:rPr>
              <a:t>PRESENTING SPONSOR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1389888"/>
            <a:ext cx="5394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3B3B3"/>
                </a:solidFill>
                <a:latin typeface="Arial"/>
              </a:rPr>
              <a:t>Full episode ownership, 60-sec mid-roll + pre-roll, social amplification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2331720"/>
            <a:ext cx="5669280" cy="1234440"/>
          </a:xfrm>
          <a:prstGeom prst="rect">
            <a:avLst/>
          </a:prstGeom>
          <a:solidFill>
            <a:srgbClr val="1A1A1A"/>
          </a:solidFill>
          <a:ln w="19050">
            <a:solidFill>
              <a:srgbClr val="C94B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5080" y="246888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94B0C"/>
                </a:solidFill>
                <a:latin typeface="Arial Black"/>
              </a:rPr>
              <a:t>FEATURED PARTNER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2807208"/>
            <a:ext cx="5394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3B3B3"/>
                </a:solidFill>
                <a:latin typeface="Arial"/>
              </a:rPr>
              <a:t>30-sec mid-roll, newsletter mention, episode show notes link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3749040"/>
            <a:ext cx="5669280" cy="1234440"/>
          </a:xfrm>
          <a:prstGeom prst="rect">
            <a:avLst/>
          </a:prstGeom>
          <a:solidFill>
            <a:srgbClr val="1A1A1A"/>
          </a:solidFill>
          <a:ln w="19050">
            <a:solidFill>
              <a:srgbClr val="C94B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55080" y="388620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94B0C"/>
                </a:solidFill>
                <a:latin typeface="Arial Black"/>
              </a:rPr>
              <a:t>BRAND MENTION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80" y="4224528"/>
            <a:ext cx="5394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3B3B3"/>
                </a:solidFill>
                <a:latin typeface="Arial"/>
              </a:rPr>
              <a:t>Host-read mention, show notes placement, social tag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5989320"/>
            <a:ext cx="11064240" cy="36576"/>
          </a:xfrm>
          <a:prstGeom prst="rect">
            <a:avLst/>
          </a:prstGeom>
          <a:solidFill>
            <a:srgbClr val="C94B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6080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94B0C"/>
                </a:solidFill>
                <a:latin typeface="Arial"/>
              </a:rPr>
              <a:t>partnerships@nopermissionpod.com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01168"/>
            <a:ext cx="12188952" cy="64008"/>
          </a:xfrm>
          <a:prstGeom prst="rect">
            <a:avLst/>
          </a:prstGeom>
          <a:solidFill>
            <a:srgbClr val="C94B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88952" cy="64008"/>
          </a:xfrm>
          <a:prstGeom prst="rect">
            <a:avLst/>
          </a:prstGeom>
          <a:solidFill>
            <a:srgbClr val="C94B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1463040"/>
            <a:ext cx="121889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C94B0C"/>
                </a:solidFill>
                <a:latin typeface="Arial"/>
              </a:rPr>
              <a:t>— The Business Podcast 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1828800"/>
            <a:ext cx="12188952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600" b="1" i="0">
                <a:solidFill>
                  <a:srgbClr val="FFFFFF"/>
                </a:solidFill>
                <a:latin typeface="Arial Black"/>
              </a:rPr>
              <a:t>NO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291840"/>
            <a:ext cx="12188952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600" b="1" i="0">
                <a:solidFill>
                  <a:srgbClr val="FFFFFF"/>
                </a:solidFill>
                <a:latin typeface="Arial Black"/>
              </a:rPr>
              <a:t>PERMISSION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4937760"/>
            <a:ext cx="121889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B3B3B3"/>
                </a:solidFill>
                <a:latin typeface="Arial"/>
              </a:rPr>
              <a:t>New Episodes Every Week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5440680"/>
            <a:ext cx="121889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C94B0C"/>
                </a:solidFill>
                <a:latin typeface="Arial"/>
              </a:rPr>
              <a:t>nopermissionpod.com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5897880"/>
            <a:ext cx="121889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3B3B3"/>
                </a:solidFill>
                <a:latin typeface="Arial"/>
              </a:rPr>
              <a:t>Spotify  ◆  Apple Podcasts  ◆  YouTube  ◆  @nopermissionpod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